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式は代替テキストに LaTeX を保存してある(tools/latex_eq.py --extract で一覧)。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463040"/>
            <a:ext cx="8229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00200"/>
            <a:ext cx="662784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sz="34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少量データの回帰で</a:t>
            </a:r>
          </a:p>
          <a:p>
            <a:pPr algn="l">
              <a:lnSpc>
                <a:spcPts val="4420"/>
              </a:lnSpc>
            </a:pPr>
            <a:r>
              <a:rPr sz="34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予測の不確かさまで示す(見本)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29000"/>
            <a:ext cx="66278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研究・高密度デザインシステムの見本デッキ</a:t>
            </a:r>
          </a:p>
          <a:p>
            <a:pPr algn="l">
              <a:lnSpc>
                <a:spcPts val="2520"/>
              </a:lnSpc>
            </a:pPr>
            <a:r>
              <a:rPr sz="18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架空の合成データで作成。研究結果ではない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4572000"/>
            <a:ext cx="6627845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709160"/>
            <a:ext cx="66278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発表者 氏名</a:t>
            </a:r>
          </a:p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所属・学会名・発表日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0765" y="1463040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本発表の要点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765" y="1828800"/>
            <a:ext cx="469516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・n = 20 のテスト RMSE は GPR が最小(0.091)</a:t>
            </a:r>
          </a:p>
          <a:p>
            <a:pPr algn="l">
              <a:lnSpc>
                <a:spcPts val="2800"/>
              </a:lnSpc>
              <a:spcBef>
                <a:spcPts val="100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・GPR の 95% 区間はテスト点の 100% を含む</a:t>
            </a:r>
          </a:p>
          <a:p>
            <a:pPr algn="l">
              <a:lnSpc>
                <a:spcPts val="2800"/>
              </a:lnSpc>
              <a:spcBef>
                <a:spcPts val="100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・データが増えると手法間の差は縮む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0765" y="4572000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主要文献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0765" y="4937760"/>
            <a:ext cx="469516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</a:pPr>
            <a:r>
              <a:rPr sz="13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</a:t>
            </a:r>
          </a:p>
          <a:p>
            <a:pPr algn="l">
              <a:lnSpc>
                <a:spcPts val="1690"/>
              </a:lnSpc>
              <a:spcBef>
                <a:spcPts val="300"/>
              </a:spcBef>
            </a:pPr>
            <a:r>
              <a:rPr sz="13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[2] Breiman, L. Mach. Learn. 2001, 45, 5–32.</a:t>
            </a:r>
          </a:p>
          <a:p>
            <a:pPr algn="l">
              <a:lnSpc>
                <a:spcPts val="1690"/>
              </a:lnSpc>
              <a:spcBef>
                <a:spcPts val="300"/>
              </a:spcBef>
            </a:pPr>
            <a:r>
              <a:rPr sz="13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[3] Pedregosa, F. et al. J. Mach. Learn. Res. 2011, 12, 2825–2830.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学習データが 20 点以下では GPR の RMSE が最も小さい(見本)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3 手法のテスト RMSE を学習データ数ごとに比べる。5 回の乱数で平均 ± 標準偏差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627845" cy="4983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007607"/>
            <a:ext cx="66278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見本データ(合成関数)。研究結果ではない。誤差棒は ±1σ(5 回)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0765" y="987552"/>
            <a:ext cx="2256144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RMSE(GPR, n = 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765" y="1227582"/>
            <a:ext cx="2256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600" b="0">
                <a:solidFill>
                  <a:srgbClr val="0072B2"/>
                </a:solidFill>
                <a:latin typeface="Hiragino Kaku Gothic ProN W6"/>
                <a:ea typeface="Hiragino Kaku Gothic ProN W6"/>
                <a:cs typeface="Hiragino Kaku Gothic ProN W6"/>
              </a:rPr>
              <a:t>0.091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0765" y="1776222"/>
            <a:ext cx="2256144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線形回帰は 0.490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8350" y="987552"/>
            <a:ext cx="2347584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95% 区間の被覆率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8350" y="1227582"/>
            <a:ext cx="2347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8350" y="1776222"/>
            <a:ext cx="2347584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テスト 200 点のうち区間内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0765" y="2286000"/>
            <a:ext cx="469517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0765" y="2404872"/>
            <a:ext cx="469516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・n = 10 では GPR の ばらつきが大きい(±1σ)</a:t>
            </a:r>
          </a:p>
          <a:p>
            <a:pPr algn="l">
              <a:lnSpc>
                <a:spcPts val="2520"/>
              </a:lnSpc>
              <a:spcBef>
                <a:spcPts val="6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・n が増えると RF と GPR の差は縮む</a:t>
            </a:r>
          </a:p>
          <a:p>
            <a:pPr algn="l">
              <a:lnSpc>
                <a:spcPts val="2520"/>
              </a:lnSpc>
              <a:spcBef>
                <a:spcPts val="6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・線形回帰は n を増やしても下がらない(</a:t>
            </a:r>
            <a:r>
              <a:rPr sz="1800" b="0">
                <a:solidFill>
                  <a:srgbClr val="A04500"/>
                </a:solidFill>
                <a:latin typeface="Hiragino Kaku Gothic ProN W3"/>
                <a:ea typeface="Hiragino Kaku Gothic ProN W3"/>
                <a:cs typeface="Hiragino Kaku Gothic ProN W3"/>
              </a:rPr>
              <a:t>モデルの形が合わない</a:t>
            </a: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130765" y="4800600"/>
          <a:ext cx="4695169" cy="1463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12826"/>
                <a:gridCol w="258234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値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テスト点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200 点(等間隔)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乱数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 回(seed 0–4)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観測雑音 σ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0.15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  [2] Breiman, L. Mach. Learn. 2001, 45, 5–32.  [3] Pedregosa, F. et al. J. Mach. Learn. Res. 2011, 12, 2825–2830.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GPR は予測の平均と分散を同時に返す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見本で使う手法の流れ・式・条件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" y="987552"/>
            <a:ext cx="1907987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1078992"/>
            <a:ext cx="1907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データ生成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19079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合成関数+雑音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n = 10–80 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19467" y="1243584"/>
            <a:ext cx="292608" cy="0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85227" y="987552"/>
            <a:ext cx="1907987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85227" y="1078992"/>
            <a:ext cx="1907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学習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5227" y="1444752"/>
            <a:ext cx="19079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3 手法を同じ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データで学習 [3]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38934" y="1243584"/>
            <a:ext cx="292608" cy="0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04694" y="987552"/>
            <a:ext cx="1907987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04694" y="1078992"/>
            <a:ext cx="1907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予測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4694" y="1444752"/>
            <a:ext cx="19079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テスト 200 点で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平均と分散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58401" y="1243584"/>
            <a:ext cx="292608" cy="0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24161" y="987552"/>
            <a:ext cx="1907987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24161" y="1078992"/>
            <a:ext cx="1907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評価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161" y="1444752"/>
            <a:ext cx="19079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RMSE・MAE・R²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95% 区間の被覆率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77868" y="1243584"/>
            <a:ext cx="292608" cy="0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43628" y="987552"/>
            <a:ext cx="1907987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43628" y="1078992"/>
            <a:ext cx="19079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3628" y="1444752"/>
            <a:ext cx="19079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学習曲線と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パリティ図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 descr="LaTeX: \bar{f}_{*} = \mathbf{k}_{*}^{\top}\left(K + \sigma_{n}^{2} I\right)^{-1}\mathbf{y}"/>
              <p:cNvSpPr txBox="1"/>
              <p:nvPr/>
            </p:nvSpPr>
            <p:spPr>
              <a:xfrm>
                <a:off x="365760" y="2240280"/>
                <a:ext cx="6079205" cy="731520"/>
              </a:xfrm>
              <a:prstGeom prst="rect">
                <a:avLst/>
              </a:prstGeom>
              <a:noFill/>
            </p:spPr>
            <p:txBody>
              <a:bodyPr wrap="square" anchor="ctr" lIns="0" rIns="0" t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bar>
                            <m:barPr>
                              <m:pos m:val="top"/>
                            </m:barPr>
                            <m:e>
                              <m:r>
                                <a:rPr lang="en-US" sz="2400">
                                  <a:solidFill>
                                    <a:srgbClr val="1A1A1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ba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  <m:r>
                        <a:rPr lang="en-US" sz="240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a:rPr lang="en-US" sz="2400" i="0" b="1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  <m:sup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bSup>
                      <m:sSup>
                        <m:e>
                          <m:d>
                            <m:dPr/>
                            <m:e>
                              <m:r>
                                <a:rPr lang="en-US" sz="2400">
                                  <a:solidFill>
                                    <a:srgbClr val="1A1A1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K+</m:t>
                              </m:r>
                              <m:sSubSup>
                                <m:e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>
                                  <a:solidFill>
                                    <a:srgbClr val="1A1A1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b"/>
                        </m:rPr>
                        <a:rPr lang="en-US" sz="2400" i="0" b="1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" name="TextBox 24" descr="LaTeX: \bar{f}_{*} = \mathbf{k}_{*}^{\top}\left(K + \sigma_{n}^{2} I\right)^{-1}\mathbf{y}"/>
              <p:cNvSpPr txBox="1"/>
              <p:nvPr/>
            </p:nvSpPr>
            <p:spPr>
              <a:xfrm>
                <a:off x="365760" y="2240280"/>
                <a:ext cx="6079205" cy="731520"/>
              </a:xfrm>
              <a:prstGeom prst="rect">
                <a:avLst/>
              </a:prstGeom>
              <a:noFill/>
            </p:spPr>
            <p:txBody>
              <a:bodyPr wrap="square" anchor="ctr" lIns="0" rIns="0" tIns="0" bIns="0">
                <a:spAutoFit/>
              </a:bodyPr>
              <a:lstStyle/>
              <a:p>
                <a:r>
                  <a:rPr lang="en-US" sz="1680" i="0">
                    <a:solidFill>
                      <a:srgbClr val="1A1A1A"/>
                    </a:solidFill>
                    <a:latin typeface="Cambria Math"/>
                    <a:ea typeface="Cambria Math"/>
                    <a:cs typeface="Cambria Math"/>
                  </a:rPr>
                  <a:t>\bar{f}_{*} = \mathbf{k}_{*}^{\top}\left(K + \sigma_{n}^{2} I\right)^{-1}\mathbf{y}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444965" y="2240280"/>
            <a:ext cx="5486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404040"/>
                </a:solidFill>
                <a:latin typeface="Hiragino Kaku Gothic ProN W3"/>
              </a:rPr>
              <a:t>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 descr="LaTeX: \mathbb{V}[f_{*}] = k(\mathbf{x}_{*}, \mathbf{x}_{*}) - \mathbf{k}_{*}^{\top}\left(K + \sigma_{n}^{2} I\right)^{-1}\mathbf{k}_{*}"/>
              <p:cNvSpPr txBox="1"/>
              <p:nvPr/>
            </p:nvSpPr>
            <p:spPr>
              <a:xfrm>
                <a:off x="365760" y="3017520"/>
                <a:ext cx="6079205" cy="731520"/>
              </a:xfrm>
              <a:prstGeom prst="rect">
                <a:avLst/>
              </a:prstGeom>
              <a:noFill/>
            </p:spPr>
            <p:txBody>
              <a:bodyPr wrap="square" anchor="ctr" lIns="0" rIns="0" t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scr m:val="double-struck"/>
                          <m:sty m:val="p"/>
                        </m:rPr>
                        <a:rPr lang="en-US" sz="2400" i="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a:rPr lang="en-US" sz="240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sSub>
                        <m:e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  <m:r>
                        <a:rPr lang="en-US" sz="240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]=k(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a:rPr lang="en-US" sz="2400" i="0" b="1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  <m:r>
                        <a:rPr lang="en-US" sz="240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a:rPr lang="en-US" sz="2400" i="0" b="1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  <m:r>
                        <a:rPr lang="en-US" sz="2400">
                          <a:solidFill>
                            <a:srgbClr val="1A1A1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)−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a:rPr lang="en-US" sz="2400" i="0" b="1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  <m:sup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bSup>
                      <m:sSup>
                        <m:e>
                          <m:d>
                            <m:dPr/>
                            <m:e>
                              <m:r>
                                <a:rPr lang="en-US" sz="2400">
                                  <a:solidFill>
                                    <a:srgbClr val="1A1A1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K+</m:t>
                              </m:r>
                              <m:sSubSup>
                                <m:e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en-US" sz="2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>
                                  <a:solidFill>
                                    <a:srgbClr val="1A1A1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  <m:sSub>
                        <m:e>
                          <m:r>
                            <m:rPr>
                              <m:sty m:val="b"/>
                            </m:rPr>
                            <a:rPr lang="en-US" sz="2400" i="0" b="1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1A1A1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7" name="TextBox 26" descr="LaTeX: \mathbb{V}[f_{*}] = k(\mathbf{x}_{*}, \mathbf{x}_{*}) - \mathbf{k}_{*}^{\top}\left(K + \sigma_{n}^{2} I\right)^{-1}\mathbf{k}_{*}"/>
              <p:cNvSpPr txBox="1"/>
              <p:nvPr/>
            </p:nvSpPr>
            <p:spPr>
              <a:xfrm>
                <a:off x="365760" y="3017520"/>
                <a:ext cx="6079205" cy="731520"/>
              </a:xfrm>
              <a:prstGeom prst="rect">
                <a:avLst/>
              </a:prstGeom>
              <a:noFill/>
            </p:spPr>
            <p:txBody>
              <a:bodyPr wrap="square" anchor="ctr" lIns="0" rIns="0" tIns="0" bIns="0">
                <a:spAutoFit/>
              </a:bodyPr>
              <a:lstStyle/>
              <a:p>
                <a:r>
                  <a:rPr lang="en-US" sz="1680" i="0">
                    <a:solidFill>
                      <a:srgbClr val="1A1A1A"/>
                    </a:solidFill>
                    <a:latin typeface="Cambria Math"/>
                    <a:ea typeface="Cambria Math"/>
                    <a:cs typeface="Cambria Math"/>
                  </a:rPr>
                  <a:t>\mathbb{V}[f_{*}] = k(\mathbf{x}_{*}, \mathbf{x}_{*}) - \mathbf{k}_{*}^{\top}\left(K + \sigma_{n}^{2} I\right)^{-1}\mathbf{k}_{*}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444965" y="3017520"/>
            <a:ext cx="5486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404040"/>
                </a:solidFill>
                <a:latin typeface="Hiragino Kaku Gothic ProN W3"/>
              </a:rPr>
              <a:t>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22191"/>
            <a:ext cx="66278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式 (1)(2) は GPR の予測平均と予測分散 [1]。95% 区間は平均 ± 1.96σ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130765" y="2194560"/>
          <a:ext cx="4695167" cy="1975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98178"/>
                <a:gridCol w="2957956"/>
                <a:gridCol w="93903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記号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単位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x*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予測したい点の記述子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任意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k*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学習点と x* の共分散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K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学習点どうしの共分散行列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–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σn²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観測雑音の分散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任意²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y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学習データの目的変数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任意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5760" y="4251960"/>
          <a:ext cx="11460175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981425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データ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y = sin(2πx) + 0.5x + ε、x ~ U(0, 1)、ε ~ N(0, 0.15²)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カーネル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定数 × RBF(初期長さ 0.2)+ 白色雑音。目的変数は正規化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比較手法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線形回帰、ランダムフォレスト(200 本)[2]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テスト 200 点の RMSE・MAE・R²、95% 区間の被覆率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  [2] Breiman, L. Mach. Learn. 2001, 45, 5–32.  [3] Pedregosa, F. et al. J. Mach. Learn. Res. 2011, 12, 2825–2830.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GPR は真の関数に沿い、学習点のない端で σ が大きくなる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n = 20、乱数 0 の代表例。(a)(b)(c) は同じ予測から作図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987552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(a) 予測値と真値</a:t>
            </a:r>
          </a:p>
        </p:txBody>
      </p:sp>
      <p:pic>
        <p:nvPicPr>
          <p:cNvPr id="7" name="Picture 6" descr="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16736"/>
            <a:ext cx="3728557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31477" y="987552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(b) GPR の平均と 95% 区間</a:t>
            </a:r>
          </a:p>
        </p:txBody>
      </p:sp>
      <p:pic>
        <p:nvPicPr>
          <p:cNvPr id="9" name="Picture 8" descr="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477" y="1316736"/>
            <a:ext cx="3728557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7194" y="987552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(c) GPR の σ と |誤差|</a:t>
            </a:r>
          </a:p>
        </p:txBody>
      </p:sp>
      <p:pic>
        <p:nvPicPr>
          <p:cNvPr id="11" name="Picture 10" descr="sig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194" y="1316736"/>
            <a:ext cx="3728740" cy="3063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416552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見本データ(合成関数)。研究結果ではない。破線は y = x(a)と真の関数(b)。(c) の下端の縦線は学習点の位置。帯は平均 ± 1.96σ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709160"/>
          <a:ext cx="11460172" cy="1536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67256"/>
                <a:gridCol w="1948229"/>
                <a:gridCol w="1948229"/>
                <a:gridCol w="1948229"/>
                <a:gridCol w="194822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手法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RMSE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MAE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R²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不確かさ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線形回帰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0.490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0.424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0.33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なし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ランダムフォレスト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0.144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0.110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0.94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なし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GPR(本手法の例)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0.091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0.069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0.98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あり(式 2)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  [3] Pedregosa, F. et al. J. Mach. Learn. Res. 2011, 12, 2825–2830.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データ数ごとの RMSE: 差は n = 10–20 で大きく、n = 80 で縮む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5 回の乱数の平均 ± 標準偏差。値が小さいほどよい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87552"/>
          <a:ext cx="11460174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50442"/>
                <a:gridCol w="1776327"/>
                <a:gridCol w="1776327"/>
                <a:gridCol w="1776327"/>
                <a:gridCol w="1776327"/>
                <a:gridCol w="160442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手法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 = 10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 = 20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 = 40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 = 80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 = 10 → 80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線形回帰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0.512 ± 0.046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0.474 ± 0.008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0.461 ± 0.008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0.454 ± 0.005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-11%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ランダムフォレスト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0.257 ± 0.052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0.171 ± 0.024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0.132 ± 0.029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0.109 ± 0.011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-57%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GPR(本手法の例)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0.256 ± 0.217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0.099 ± 0.027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0.076 ± 0.019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0.041 ± 0.009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-84%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054096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見本データ(合成関数)。研究結果ではない。テスト RMSE [任意単位]。表は色なし・黒罫線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38144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この表から言えること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22192"/>
            <a:ext cx="372855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・少量データでは GPR が最小</a:t>
            </a:r>
          </a:p>
          <a:p>
            <a:pPr algn="l">
              <a:lnSpc>
                <a:spcPts val="2520"/>
              </a:lnSpc>
              <a:spcBef>
                <a:spcPts val="4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・線形回帰は n を増やしても改善しない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1477" y="3438144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記号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1477" y="3822192"/>
            <a:ext cx="372855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・n: 学習データ数</a:t>
            </a:r>
          </a:p>
          <a:p>
            <a:pPr algn="l">
              <a:lnSpc>
                <a:spcPts val="2520"/>
              </a:lnSpc>
              <a:spcBef>
                <a:spcPts val="4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・±: 5 回の標準偏差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194" y="3438144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関連文献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194" y="3822192"/>
            <a:ext cx="37287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・GPR [1]、RF [2]</a:t>
            </a:r>
          </a:p>
          <a:p>
            <a:pPr algn="l">
              <a:lnSpc>
                <a:spcPts val="2520"/>
              </a:lnSpc>
              <a:spcBef>
                <a:spcPts val="4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・実装 scikit-learn [3]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764024"/>
            <a:ext cx="11460175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4855464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線形回帰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95494"/>
            <a:ext cx="3728557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-11%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83174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 の変化(n = 10 → 80)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1477" y="4855464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ランダムフォレスト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1477" y="5095494"/>
            <a:ext cx="3728557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-57%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1477" y="5583174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 の変化(n = 10 → 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194" y="4855464"/>
            <a:ext cx="37287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GPR(本手法の例)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194" y="5095494"/>
            <a:ext cx="372874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0">
                <a:solidFill>
                  <a:srgbClr val="0072B2"/>
                </a:solidFill>
                <a:latin typeface="Hiragino Kaku Gothic ProN W6"/>
                <a:ea typeface="Hiragino Kaku Gothic ProN W6"/>
                <a:cs typeface="Hiragino Kaku Gothic ProN W6"/>
              </a:rPr>
              <a:t>-84%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194" y="5583174"/>
            <a:ext cx="37287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 の変化(n = 10 → 80)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  [2] Breiman, L. Mach. Learn. 2001, 45, 5–32.  [3] Pedregosa, F. et al. J. Mach. Learn. Res. 2011, 12, 2825–2830.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まとめ: 少量データでは予測の不確かさを一緒に示す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見本デッキの結論と限界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987552"/>
            <a:ext cx="469498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69498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・n = 20 で GPR の RMSE は 0.091、線形回帰の約 1/5(p.4)</a:t>
            </a:r>
          </a:p>
          <a:p>
            <a:pPr algn="l">
              <a:lnSpc>
                <a:spcPts val="2800"/>
              </a:lnSpc>
              <a:spcBef>
                <a:spcPts val="100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・RF との差は n = 80 で縮む(p.5)</a:t>
            </a:r>
          </a:p>
          <a:p>
            <a:pPr algn="l">
              <a:lnSpc>
                <a:spcPts val="2800"/>
              </a:lnSpc>
              <a:spcBef>
                <a:spcPts val="1000"/>
              </a:spcBef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・95% 区間はテスト点の 100% を含む(p.2, p.4)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7906" y="987552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主要数値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7906" y="1371600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RMSE(GPR, n = 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7906" y="1611630"/>
            <a:ext cx="372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0">
                <a:solidFill>
                  <a:srgbClr val="0072B2"/>
                </a:solidFill>
                <a:latin typeface="Hiragino Kaku Gothic ProN W6"/>
                <a:ea typeface="Hiragino Kaku Gothic ProN W6"/>
                <a:cs typeface="Hiragino Kaku Gothic ProN W6"/>
              </a:rPr>
              <a:t>0.091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7906" y="2068830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線形回帰 0.490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7906" y="2418588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RMSE(RF, n = 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7906" y="2658618"/>
            <a:ext cx="372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0.144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7906" y="3115818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ランダムフォレスト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7906" y="3465576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95% 区間の被覆率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7906" y="3705606"/>
            <a:ext cx="372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7906" y="4162806"/>
            <a:ext cx="3728557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テスト 200 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624" y="987552"/>
            <a:ext cx="276231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次の課題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624" y="1371600"/>
            <a:ext cx="27623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・実データで同じ比較</a:t>
            </a:r>
          </a:p>
          <a:p>
            <a:pPr algn="l">
              <a:lnSpc>
                <a:spcPts val="2520"/>
              </a:lnSpc>
              <a:spcBef>
                <a:spcPts val="4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・記述子を多次元に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3624" y="2587752"/>
            <a:ext cx="276231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限界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3624" y="2971800"/>
            <a:ext cx="27623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</a:t>
            </a:r>
            <a:r>
              <a:rPr sz="1800" b="0">
                <a:solidFill>
                  <a:srgbClr val="A04500"/>
                </a:solidFill>
                <a:latin typeface="Hiragino Kaku Gothic ProN W3"/>
                <a:ea typeface="Hiragino Kaku Gothic ProN W3"/>
                <a:cs typeface="Hiragino Kaku Gothic ProN W3"/>
              </a:rPr>
              <a:t>1 次元の合成関数のみ</a:t>
            </a:r>
          </a:p>
          <a:p>
            <a:pPr algn="l">
              <a:lnSpc>
                <a:spcPts val="2520"/>
              </a:lnSpc>
              <a:spcBef>
                <a:spcPts val="400"/>
              </a:spcBef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・ハイパーパラメータ探索なし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" y="4617720"/>
            <a:ext cx="11460175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4709160"/>
            <a:ext cx="11460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関連文献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114601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Press, 2006.</a:t>
            </a:r>
          </a:p>
          <a:p>
            <a:pPr algn="l">
              <a:lnSpc>
                <a:spcPts val="1820"/>
              </a:lnSpc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[2] Breiman, L. Mach. Learn. 2001, 45, 5–32.</a:t>
            </a:r>
          </a:p>
          <a:p>
            <a:pPr algn="l">
              <a:lnSpc>
                <a:spcPts val="1820"/>
              </a:lnSpc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[3] Pedregosa, F. et al. J. Mach. Learn. Res. 2011, 12, 2825–2830.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色の設計: [4] Okabe, M.; Ito, K. J*Fly, 2002 (rev. 2008).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本文の登場順。DOI と Web 資料の確認日つき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987552"/>
            <a:ext cx="372855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2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[1] Rasmussen, C. E.; Williams, C. K. I. Gaussian Processes for Machine Learning; MIT Press: Cambridge, MA, 2006. https://gaussianprocess.org/gpml/ (accessed 2026-10-20).</a:t>
            </a:r>
          </a:p>
          <a:p>
            <a:pPr algn="l">
              <a:lnSpc>
                <a:spcPts val="1560"/>
              </a:lnSpc>
              <a:spcBef>
                <a:spcPts val="800"/>
              </a:spcBef>
            </a:pPr>
            <a:r>
              <a:rPr sz="12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[2] Breiman, L. Random Forests. Mach. Learn. 2001, 45 (1), 5–32. https://doi.org/10.1023/A:1010933404324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477" y="987552"/>
            <a:ext cx="372855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2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[3] Pedregosa, F.; Varoquaux, G.; Gramfort, A.; et al. Scikit-learn: Machine Learning in Python. J. Mach. Learn. Res. 2011, 12, 2825–2830.</a:t>
            </a:r>
          </a:p>
          <a:p>
            <a:pPr algn="l">
              <a:lnSpc>
                <a:spcPts val="1560"/>
              </a:lnSpc>
              <a:spcBef>
                <a:spcPts val="800"/>
              </a:spcBef>
            </a:pPr>
            <a:r>
              <a:rPr sz="12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[4] Okabe, M.; Ito, K. Color Universal Design (CUD): How to Make Figures and Presentations That Are Friendly to Colorblind People. J*Fly, 2002 (rev. 2008). https://jfly.uni-koeln.de/color/ (accessed 2026-10-05).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194" y="987552"/>
            <a:ext cx="37287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2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[5] Wong, B. Points of View: Color Blindness. Nat. Methods 2011, 8 (6), 441. https://doi.org/10.1038/nmeth.1618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11460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図表の出典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06240"/>
          <a:ext cx="11460175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3657600"/>
                <a:gridCol w="67052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ページ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図表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学習曲線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見本データ(本スクリプトで作成)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(a)(b)(c) と結果表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見本データ(本スクリプトで作成)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RMSE の表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見本データ(本スクリプトで作成)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研究・高密度デザインシステム 見本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