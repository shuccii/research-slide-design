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matched-comparison</a:t>
            </a:r>
          </a:p>
          <a:p>
            <a:r>
              <a:t>用途: 対照実験、前後比較、従来法と提案法の比較</a:t>
            </a:r>
          </a:p>
          <a:p>
            <a:r>
              <a:t>既存との差: two-figuresの派生。左右を対称にし、比較条件と対応する根拠を固定する。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small-multiples-6</a:t>
            </a:r>
          </a:p>
          <a:p>
            <a:r>
              <a:t>用途: 温度・試料・期間などの複数条件を一覧する</a:t>
            </a:r>
          </a:p>
          <a:p>
            <a:r>
              <a:t>既存との差: two-figuresの派生。3枚1列から6枚2段へ拡張し、短い条件名で統一する。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overview-detail</a:t>
            </a:r>
          </a:p>
          <a:p>
            <a:r>
              <a:t>用途: ピーク、交点、外挿域など局所的な差を説明する</a:t>
            </a:r>
          </a:p>
          <a:p>
            <a:r>
              <a:t>既存との差: figure-notesの派生。右欄を説明文から拡大図2枚へ置換し、範囲を明記する。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ablation</a:t>
            </a:r>
          </a:p>
          <a:p>
            <a:r>
              <a:t>用途: 前処理、モデル要素、データ源の寄与を検証する</a:t>
            </a:r>
          </a:p>
          <a:p>
            <a:r>
              <a:t>既存との差: figure-tableの用途特化。結果の順位だけでなく、何を除いたかを対応表で示す。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error-diagnosis</a:t>
            </a:r>
          </a:p>
          <a:p>
            <a:r>
              <a:t>用途: 平均指標だけでは見えない系統誤差や外れ値を調べる</a:t>
            </a:r>
          </a:p>
          <a:p>
            <a:r>
              <a:t>既存との差: two-figuresとfigure-tableの組合せ。位置・分布・代表例の3種類の根拠を固定する。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レイアウト: evidence-next</a:t>
            </a:r>
          </a:p>
          <a:p>
            <a:r>
              <a:t>用途: 研究MTGの判断、考察、追加実験の相談に使う</a:t>
            </a:r>
          </a:p>
          <a:p>
            <a:r>
              <a:t>既存との差: summaryの派生。3段組の要約から、結論・根拠・限界・次の検証の対応表にする。</a:t>
            </a:r>
          </a:p>
          <a:p>
            <a:r>
              <a:t>数値はすべて配置検証用の架空データ。研究上の主張として使わない。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同じ条件で比較すると、構成Bの誤差が小さい（見本）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01 対照比較: 左右の軸・条件・表の項目をそろえる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566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構成A</a:t>
            </a:r>
          </a:p>
        </p:txBody>
      </p:sp>
      <p:pic>
        <p:nvPicPr>
          <p:cNvPr id="8" name="Picture 7" descr="compare-構成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5661416" cy="28803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425696"/>
          <a:ext cx="5661416" cy="786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0708"/>
                <a:gridCol w="2830708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共通の評価点数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RMSE [任意単位]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0.169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440680"/>
            <a:ext cx="5661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入力範囲と真値を統一する。
比較条件を左右で対応させる。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4336" y="1024128"/>
            <a:ext cx="566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構成B</a:t>
            </a:r>
          </a:p>
        </p:txBody>
      </p:sp>
      <p:pic>
        <p:nvPicPr>
          <p:cNvPr id="12" name="Picture 11" descr="compare-構成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336" y="1444752"/>
            <a:ext cx="5661599" cy="288036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64336" y="4425696"/>
          <a:ext cx="5661598" cy="786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0799"/>
                <a:gridCol w="2830799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共通の評価点数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RMSE [任意単位]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0.050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64336" y="5440680"/>
            <a:ext cx="56615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見本では構成Bの誤差が小さい。
複数の試行で再確認する。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6条件の変化を、共通軸で一度に比較する（見本）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02 条件一覧: 2段×3列。同じ軸とラベル位置を保つ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(a) 条件 1</a:t>
            </a:r>
          </a:p>
        </p:txBody>
      </p:sp>
      <p:pic>
        <p:nvPicPr>
          <p:cNvPr id="8" name="Picture 7" descr="condi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3728557" cy="1975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1477" y="1005840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(b) 条件 2</a:t>
            </a:r>
          </a:p>
        </p:txBody>
      </p:sp>
      <p:pic>
        <p:nvPicPr>
          <p:cNvPr id="10" name="Picture 9" descr="condition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477" y="1298448"/>
            <a:ext cx="3728557" cy="1975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7194" y="1005840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(c) 条件 3</a:t>
            </a:r>
          </a:p>
        </p:txBody>
      </p:sp>
      <p:pic>
        <p:nvPicPr>
          <p:cNvPr id="12" name="Picture 11" descr="condition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194" y="1298448"/>
            <a:ext cx="3728740" cy="19751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3337560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(d) 条件 4</a:t>
            </a:r>
          </a:p>
        </p:txBody>
      </p:sp>
      <p:pic>
        <p:nvPicPr>
          <p:cNvPr id="14" name="Picture 13" descr="condition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30168"/>
            <a:ext cx="3728557" cy="1975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31477" y="3337560"/>
            <a:ext cx="372855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(e) 条件 5</a:t>
            </a:r>
          </a:p>
        </p:txBody>
      </p:sp>
      <p:pic>
        <p:nvPicPr>
          <p:cNvPr id="16" name="Picture 15" descr="condition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1477" y="3630168"/>
            <a:ext cx="3728557" cy="19751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7194" y="3337560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(f) 条件 6</a:t>
            </a:r>
          </a:p>
        </p:txBody>
      </p:sp>
      <p:pic>
        <p:nvPicPr>
          <p:cNvPr id="18" name="Picture 17" descr="condition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7194" y="3630168"/>
            <a:ext cx="3728740" cy="1975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5760720"/>
            <a:ext cx="11460175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比較条件を増やす場合も、軸範囲と系列の意味を全パネルでそろえる。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全体の傾向と局所のずれを、同じページで示す（見本）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03 全体と拡大: 左に全範囲、右に区間別の詳細を置く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7594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(a) 全範囲</a:t>
            </a:r>
          </a:p>
        </p:txBody>
      </p:sp>
      <p:pic>
        <p:nvPicPr>
          <p:cNvPr id="8" name="Picture 7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7594274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458968"/>
            <a:ext cx="759427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全体図を比較の基準にする。
拡大図には対象区間を明記する。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7194" y="1005840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(b) x = 0.10–0.30</a:t>
            </a:r>
          </a:p>
        </p:txBody>
      </p:sp>
      <p:pic>
        <p:nvPicPr>
          <p:cNvPr id="11" name="Picture 10" descr="detail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194" y="1307592"/>
            <a:ext cx="372874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7194" y="3602736"/>
            <a:ext cx="37287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(c) x = 0.65–0.85</a:t>
            </a:r>
          </a:p>
        </p:txBody>
      </p:sp>
      <p:pic>
        <p:nvPicPr>
          <p:cNvPr id="13" name="Picture 12" descr="detail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194" y="3904487"/>
            <a:ext cx="37287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要素を一つずつ除き、誤差への寄与を確かめる（見本）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04 要素別検証: 変更した要素と固定条件を並べる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66278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誤差の比較（小さいほどよい）</a:t>
            </a:r>
          </a:p>
        </p:txBody>
      </p:sp>
      <p:pic>
        <p:nvPicPr>
          <p:cNvPr id="8" name="Picture 7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6627845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892040"/>
            <a:ext cx="662784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要素Qを除いた見本で誤差が最大。
寄与の一般化には、反復検証が必要。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0765" y="1024128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変えたもの・固定したもの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30765" y="1517904"/>
          <a:ext cx="4695168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65056"/>
                <a:gridCol w="1565056"/>
                <a:gridCol w="1565056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P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Q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全要素あり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使用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使用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要素Pなし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除外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使用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要素Qなし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使用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除外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0765" y="3785615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共通条件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30765" y="4261104"/>
          <a:ext cx="4695168" cy="1755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47584"/>
                <a:gridCol w="2347584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評価点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同じ81点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指標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RMSE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試行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見本の単一値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誤差の平均値に加え、偏りと大きな残差を確認する（見本）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05 誤差の診断: 入力に対する残差、分布、代表点を対応させる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662784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(a) 入力に対する残差</a:t>
            </a:r>
          </a:p>
        </p:txBody>
      </p:sp>
      <p:pic>
        <p:nvPicPr>
          <p:cNvPr id="8" name="Picture 7" descr="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4752"/>
            <a:ext cx="6627845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617720"/>
            <a:ext cx="6627845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0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残差は入力に応じて上下する。
平均的な誤差が小さくても、
系統的なずれは別に確認する。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0765" y="1005840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(b) 残差の分布</a:t>
            </a:r>
          </a:p>
        </p:txBody>
      </p:sp>
      <p:pic>
        <p:nvPicPr>
          <p:cNvPr id="11" name="Picture 10" descr="residual-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765" y="1371600"/>
            <a:ext cx="4695169" cy="2176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0765" y="3749039"/>
            <a:ext cx="469516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(c) 絶対残差が大きい代表点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30765" y="4187952"/>
          <a:ext cx="4695168" cy="1755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47584"/>
                <a:gridCol w="2347584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x [任意単位]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残差 [任意単位]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0.625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+0.095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0.638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+0.095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0.613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+0.094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3550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sz="22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結論ごとに根拠と限界を結び、次の検証を決める（見本）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404040"/>
                </a:solidFill>
                <a:latin typeface="Hiragino Kaku Gothic ProN W3"/>
                <a:ea typeface="Hiragino Kaku Gothic ProN W3"/>
                <a:cs typeface="Hiragino Kaku Gothic ProN W3"/>
              </a:rPr>
              <a:t>06 議論と次の検証: 1行に一つの結論と、その成立条件を置く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868680"/>
            <a:ext cx="11460175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355080"/>
            <a:ext cx="107286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595959"/>
                </a:solidFill>
                <a:latin typeface="Hiragino Kaku Gothic ProN W3"/>
                <a:ea typeface="Hiragino Kaku Gothic ProN W3"/>
                <a:cs typeface="Hiragino Kaku Gothic ProN W3"/>
              </a:rPr>
              <a:t>見本データ: 配置検証用の架空データ。研究結果ではない。デザイン見本。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60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見本データから読めることと、追加で確かめること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36192"/>
          <a:ext cx="11460174" cy="31455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99288"/>
                <a:gridCol w="2899288"/>
                <a:gridCol w="2899288"/>
                <a:gridCol w="2762310"/>
              </a:tblGrid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結論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対応する根拠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限界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次の検証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構成Bの誤差が小さい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RMSE 0.050
構成A 0.169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単一の合成関数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異なる関数で反復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1270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要素Qの除外で誤差増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要素別検証の
見本値 0.28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要素間の相互作用は未評価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PとQを同時に除外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635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残差が入力で変化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残差図の
周期的な変動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測定ノイズを含まない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6350" cap="flat" cmpd="sng">
                      <a:solidFill>
                        <a:srgbClr val="1A1A1A"/>
                      </a:solidFill>
                      <a:prstDash val="solid"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A1A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ノイズ条件を追加</a:t>
                      </a:r>
                    </a:p>
                  </a:txBody>
                  <a:tcPr marL="54864" marR="54864" marT="27432" marB="27432" anchor="ctr">
                    <a:lnL w="6350" cap="flat" cmpd="sng">
                      <a:solidFill>
                        <a:srgbClr val="1A1A1A"/>
                      </a:solidFill>
                      <a:prstDash val="solid"/>
                    </a:lnL>
                    <a:lnR w="0">
                      <a:noFill/>
                    </a:lnR>
                    <a:lnT w="6350" cap="flat" cmpd="sng">
                      <a:solidFill>
                        <a:srgbClr val="1A1A1A"/>
                      </a:solidFill>
                      <a:prstDash val="solid"/>
                    </a:lnT>
                    <a:lnB w="12700" cap="flat" cmpd="sng">
                      <a:solidFill>
                        <a:srgbClr val="1A1A1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956048"/>
            <a:ext cx="114601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1A1A1A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今回の相談事項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13248"/>
            <a:ext cx="11460175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sz="2200" b="0">
                <a:solidFill>
                  <a:srgbClr val="1A1A1A"/>
                </a:solidFill>
                <a:latin typeface="Hiragino Kaku Gothic ProN W3"/>
                <a:ea typeface="Hiragino Kaku Gothic ProN W3"/>
                <a:cs typeface="Hiragino Kaku Gothic ProN W3"/>
              </a:rPr>
              <a:t>次の検証を一つ選び、必要なデータと判断基準を決める。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研究スライドの追加レイアウト6種（見本）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